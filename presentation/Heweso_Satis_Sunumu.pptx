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Açılış. Konumlandırma: Heweso platformuna eklenecek premium bir otonom fiyatlandırma yetkinliği. İzleyici: Heweso yönetimi. Değer iki katmanlı: perakendeci (marj+gelir) ve Heweso (farklılaşma+bağlılık).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Yönetici özeti: tek slaytta ne, kime, ne fayda. Perakendeci faydası satılabilirliği sağlar; Heweso faydası satın alma gerekçesidir.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Bağlam slaytı: neden şimdi. Rekabet baskısı + daralan marj = fiyat yönetimi stratejik hale geldi.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= perakendecinizin acısı. Bu, platformunuzun çözebileceği bir fırsat. Dört maddede: yavaşlık, marj erozyonu, yanlış tepki, körlük.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Hesap: ciro kaybı ₺720K (₺48M x %1,5). Marj kaybı ₺288K (₺14,4M reaktif ciro x 2 puan aşırı indirim). Kâra etki = 720K x %12 (86K) + 288K = ~374K/yıl. Rakamlar örnek; gerçek veriyle değişir.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Çözümü tek cümlede: gömülü, otonom, kurallı fiyatlandırma. Sağdaki üç yetenek: izle, karar ver, uygula.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Beş adımlı sürekli döngü: gözle-düşün-karar-aksiyon-değerlendir. Şeffaflık verir; teknik jargon yok.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Farkı somutlaştır: panik yapmaz, körü körüne eşitlemez, öğrenir, sınır tanır. Sol=piyasa standardı, sağ=biz.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Epsilon-greedy'yi düz dille: keşfet-öğren-iyileş. Grafik illüstratif; rekabet avantajının zamanla büyüdüğünü gösterir.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Kurumsal alıcının en büyük endişesi: bot çıldırır mı? Cevap: tavan/taban, denetim izi, insan devri, tam görünürlük.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Anahtar slayt. Sert ROI perakendeci katmanında (satılabilirlik kanıtı). Heweso katmanı satın alma gerekçesi: farklılaşma, bağlılık, büyüme.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Teknik detay sona: güvenilirlik kanıtı olarak. AWS-native, ölçeklenebilir, güvenli, entegre. Jargon minimum.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 her zaman net bir istekle biter: pilot. Ölçütleri birlikte tanımlamak alıcıyı sürece ortak eder.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00A89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663440"/>
            <a:ext cx="3657600" cy="36576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96596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HEWESO PLATFORM   ·   ÜRÜN SUNUMU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Otonom Rekabetçi Fiyatlandırma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66928" y="338328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Perakendecileriniz için 7/24 marj koruması ve gelir optimizasyonu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66928" y="4114800"/>
            <a:ext cx="237744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598932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[Ad Soyad]      ·      [Tarih]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Yönetici Özeti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3317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6968" y="310896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sunuyoruz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86968" y="3749040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Heweso platformuna gömülü, perakendecilerin fiyatlarını rakiplere karşı otonom yöneten bir modül.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61688" y="196596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23317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81728" y="310896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Perakendeci için değer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81728" y="3749040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Korunan marj ve geri kazanılan satış — sıfır manuel iş, sürekli optimize edilmiş fiyat.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156448" y="1965960"/>
            <a:ext cx="3502152" cy="3566160"/>
          </a:xfrm>
          <a:prstGeom prst="roundRect">
            <a:avLst>
              <a:gd name="adj" fmla="val 2611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6488" y="233172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47648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76488" y="310896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Heweso için değer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76488" y="3749040"/>
            <a:ext cx="28620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altyapılarda olmayan bir yetkinlik: farklılaşma, artan müşteri bağlılığı ve upsell fırsatı.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Pazar Dinamikleri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artık statik bir karar değil.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7EDF9"/>
            </a:solidFill>
            <a:prstDash val="solid"/>
          </a:ln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468880"/>
            <a:ext cx="566928" cy="566928"/>
          </a:xfrm>
          <a:prstGeom prst="ellipse">
            <a:avLst/>
          </a:prstGeom>
          <a:solidFill>
            <a:srgbClr val="EEF2FB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86968" y="320040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Sürekli fiyat hareketi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3886200"/>
            <a:ext cx="2862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Rakipler gün içinde fiyatlarını defalarca değiştiriyor; statik fiyat geride kalıyor.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61688" y="210312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7EDF9"/>
            </a:solidFill>
            <a:prstDash val="solid"/>
          </a:ln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2468880"/>
            <a:ext cx="566928" cy="566928"/>
          </a:xfrm>
          <a:prstGeom prst="ellipse">
            <a:avLst/>
          </a:prstGeom>
          <a:solidFill>
            <a:srgbClr val="EEF2FB"/>
          </a:solidFill>
          <a:ln/>
        </p:spPr>
      </p:sp>
      <p:sp>
        <p:nvSpPr>
          <p:cNvPr id="12" name="Text 10"/>
          <p:cNvSpPr/>
          <p:nvPr/>
        </p:nvSpPr>
        <p:spPr>
          <a:xfrm>
            <a:off x="4681728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81728" y="320040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Daralan marjlar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81728" y="3886200"/>
            <a:ext cx="2862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 elektronikte hata payı düşük; yanlış fiyat hem satış hem kâr kaybettiriyor.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56448" y="210312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7EDF9"/>
            </a:solidFill>
            <a:prstDash val="solid"/>
          </a:ln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76488" y="2468880"/>
            <a:ext cx="566928" cy="566928"/>
          </a:xfrm>
          <a:prstGeom prst="ellipse">
            <a:avLst/>
          </a:prstGeom>
          <a:solidFill>
            <a:srgbClr val="EEF2FB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76488" y="320040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Yeni rekabet cephesi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76488" y="3886200"/>
            <a:ext cx="2862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Fiyatı sürekli ve doğru yönetmek, kazananı belirleyen faktör haline geldi.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Perakendecilerinizin Sorunu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elle çözülmeye çalışılıyor — ve çözülemiyor.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330952" cy="1691640"/>
          </a:xfrm>
          <a:prstGeom prst="roundRect">
            <a:avLst>
              <a:gd name="adj" fmla="val 486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2267712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Yavaş tepki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761488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yeniden fiyatlandırma rakibin hızına yetişemez; tepki saatler, hatta günler alır.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330952" cy="1691640"/>
          </a:xfrm>
          <a:prstGeom prst="roundRect">
            <a:avLst>
              <a:gd name="adj" fmla="val 486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267712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Marj erozyonu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761488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Panikle yapılan indirimler çoğu zaman gereğinden derin; kâr sessizce erir.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4023360"/>
            <a:ext cx="5330952" cy="1691640"/>
          </a:xfrm>
          <a:prstGeom prst="roundRect">
            <a:avLst>
              <a:gd name="adj" fmla="val 486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" y="4279392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Yanlış tepki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32688" y="4773168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geçici indirime atlamak kârı yakar; görmezden gelmek satış kaybettirir.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4023360"/>
            <a:ext cx="5330952" cy="1691640"/>
          </a:xfrm>
          <a:prstGeom prst="roundRect">
            <a:avLst>
              <a:gd name="adj" fmla="val 4865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4279392"/>
            <a:ext cx="4599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Görünürlük eksikliği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4773168"/>
            <a:ext cx="4599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üründe ne zaman geride kalındığı zamanında görülemez.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VAKASI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Mevcut Durumun Maliyeti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Örnek: orta ölçekli bir elektronik perakendecisi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EEF2F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83080"/>
            <a:ext cx="10689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online ciro ₺120M      ·      rekabete duyarlı SKU cirosu ₺48M      ·      ortalama brüt marj %12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88920"/>
            <a:ext cx="3502152" cy="2514600"/>
          </a:xfrm>
          <a:prstGeom prst="roundRect">
            <a:avLst>
              <a:gd name="adj" fmla="val 3636"/>
            </a:avLst>
          </a:prstGeom>
          <a:solidFill>
            <a:srgbClr val="F7E9E6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5528" y="3172968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24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₺720K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95528" y="41605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Kaçan yıllık satış (ciro)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459943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tepki gecikmesi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2788920"/>
            <a:ext cx="3502152" cy="2514600"/>
          </a:xfrm>
          <a:prstGeom prst="roundRect">
            <a:avLst>
              <a:gd name="adj" fmla="val 3636"/>
            </a:avLst>
          </a:prstGeom>
          <a:solidFill>
            <a:srgbClr val="F7E9E6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3172968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24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₺288K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590288" y="41605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Erisen yıllık marj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90288" y="459943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gereksiz indirim derinliği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6448" y="2788920"/>
            <a:ext cx="3502152" cy="2514600"/>
          </a:xfrm>
          <a:prstGeom prst="roundRect">
            <a:avLst>
              <a:gd name="adj" fmla="val 3636"/>
            </a:avLst>
          </a:prstGeom>
          <a:solidFill>
            <a:srgbClr val="F7E9E6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85048" y="3172968"/>
            <a:ext cx="3044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24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₺374K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385048" y="416052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Kâra toplam yıllık etki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85048" y="459943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yıl tekrar eder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55321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rakamlar örnek varsayıma dayalıdır; gerçek verilerle güncellenir.  (K = bin ₺)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Otonom Fiyatlandırma Modülü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Heweso platformuna gömülü, sürekli çalışan bir fiyatlandırma zekâsı. Rakip fiyatları izler, doğru kararı verir, fiyatı otomatik uygular ve sonucu değerlendirir — perakendeci hiçbir şey yapmadan, tanımlı kuralların içinde.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92240" y="1874520"/>
            <a:ext cx="5120640" cy="1170432"/>
          </a:xfrm>
          <a:prstGeom prst="roundRect">
            <a:avLst>
              <a:gd name="adj" fmla="val 7031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784848" y="2185416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784848" y="2185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43800" y="2075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Kesintisiz izleme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43800" y="24505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fiyatları ve satış hızı 7/24 takip edilir.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92240" y="3300984"/>
            <a:ext cx="5120640" cy="1170432"/>
          </a:xfrm>
          <a:prstGeom prst="roundRect">
            <a:avLst>
              <a:gd name="adj" fmla="val 7031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84848" y="36118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784848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543800" y="3502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Akıllı karar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43800" y="387705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Gereken minimum fiyat ayarı, tam zamanında.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4727448"/>
            <a:ext cx="5120640" cy="1170432"/>
          </a:xfrm>
          <a:prstGeom prst="roundRect">
            <a:avLst>
              <a:gd name="adj" fmla="val 7031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84848" y="5038344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784848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43800" y="49286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Otomatik uygulama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43800" y="5303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anında hayata geçer ve loglanır.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Nasıl Çalışır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33172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1872" y="2651760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04088" y="34290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İzle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" y="390448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hızı ve rakip fiyatları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13457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832354" y="233172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7298" y="2651760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7298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69514" y="34290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 Et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969514" y="390448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Geçici mi, yapısal mı?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78883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5097780" y="233172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92724" y="2651760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792724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34940" y="34290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Karar 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234940" y="390448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gereken fiyat ayarı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4309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7363206" y="233172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58150" y="2651760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8058150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500366" y="34290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00366" y="390448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Fiyatı otomatik güncelle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09735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8" name="Shape 26"/>
          <p:cNvSpPr/>
          <p:nvPr/>
        </p:nvSpPr>
        <p:spPr>
          <a:xfrm>
            <a:off x="9628632" y="2331720"/>
            <a:ext cx="1993392" cy="2468880"/>
          </a:xfrm>
          <a:prstGeom prst="roundRect">
            <a:avLst>
              <a:gd name="adj" fmla="val 412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23576" y="2651760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10323576" y="2651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765792" y="34290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Değerlendir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765792" y="390448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Sonucu ölç, gerekirse devret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6928" y="516636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döngü — her turda öğrenir ve bir sonraki kararı iyileştirir.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FARKLILAŞMA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Farklı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30952" cy="502920"/>
          </a:xfrm>
          <a:prstGeom prst="roundRect">
            <a:avLst>
              <a:gd name="adj" fmla="val 10909"/>
            </a:avLst>
          </a:prstGeom>
          <a:solidFill>
            <a:srgbClr val="F7E9E6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554480"/>
            <a:ext cx="4782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Sıradan yeniden fiyatlandırma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30952" cy="502920"/>
          </a:xfrm>
          <a:prstGeom prst="roundRect">
            <a:avLst>
              <a:gd name="adj" fmla="val 10909"/>
            </a:avLst>
          </a:prstGeom>
          <a:solidFill>
            <a:srgbClr val="E1F3EF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554480"/>
            <a:ext cx="4782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Heweso Pricing Agent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5330952" cy="841248"/>
          </a:xfrm>
          <a:prstGeom prst="roundRect">
            <a:avLst>
              <a:gd name="adj" fmla="val 7609"/>
            </a:avLst>
          </a:prstGeom>
          <a:solidFill>
            <a:srgbClr val="EEF2FB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2148840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indirime tepki verir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330952" cy="841248"/>
          </a:xfrm>
          <a:prstGeom prst="roundRect">
            <a:avLst>
              <a:gd name="adj" fmla="val 7609"/>
            </a:avLst>
          </a:prstGeom>
          <a:solidFill>
            <a:srgbClr val="EAF7F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48840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Geçici promosyonu yapısal hareketten ayırır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3118104"/>
            <a:ext cx="5330952" cy="841248"/>
          </a:xfrm>
          <a:prstGeom prst="roundRect">
            <a:avLst>
              <a:gd name="adj" fmla="val 7609"/>
            </a:avLst>
          </a:prstGeom>
          <a:solidFill>
            <a:srgbClr val="EEF2FB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" y="3118104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Rakibi körü körüne eşitler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17920" y="3118104"/>
            <a:ext cx="5330952" cy="841248"/>
          </a:xfrm>
          <a:prstGeom prst="roundRect">
            <a:avLst>
              <a:gd name="adj" fmla="val 7609"/>
            </a:avLst>
          </a:prstGeom>
          <a:solidFill>
            <a:srgbClr val="EAF7F4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118104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Kârı korumak için gereken minimumu yapar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" y="4087368"/>
            <a:ext cx="5330952" cy="841248"/>
          </a:xfrm>
          <a:prstGeom prst="roundRect">
            <a:avLst>
              <a:gd name="adj" fmla="val 7609"/>
            </a:avLst>
          </a:prstGeom>
          <a:solidFill>
            <a:srgbClr val="EEF2FB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" y="4087368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Sabit, elle yazılmış kurallar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17920" y="4087368"/>
            <a:ext cx="5330952" cy="841248"/>
          </a:xfrm>
          <a:prstGeom prst="roundRect">
            <a:avLst>
              <a:gd name="adj" fmla="val 7609"/>
            </a:avLst>
          </a:prstGeom>
          <a:solidFill>
            <a:srgbClr val="EAF7F4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087368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Sonuçtan öğrenir, zamanla iyileşir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66928" y="5056632"/>
            <a:ext cx="5330952" cy="841248"/>
          </a:xfrm>
          <a:prstGeom prst="roundRect">
            <a:avLst>
              <a:gd name="adj" fmla="val 7609"/>
            </a:avLst>
          </a:prstGeom>
          <a:solidFill>
            <a:srgbClr val="EEF2FB"/>
          </a:solidFill>
          <a:ln/>
        </p:spPr>
      </p:sp>
      <p:sp>
        <p:nvSpPr>
          <p:cNvPr id="21" name="Text 19"/>
          <p:cNvSpPr/>
          <p:nvPr/>
        </p:nvSpPr>
        <p:spPr>
          <a:xfrm>
            <a:off x="886968" y="5056632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Zayıf sınır kontrolü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17920" y="5056632"/>
            <a:ext cx="5330952" cy="841248"/>
          </a:xfrm>
          <a:prstGeom prst="roundRect">
            <a:avLst>
              <a:gd name="adj" fmla="val 7609"/>
            </a:avLst>
          </a:prstGeom>
          <a:solidFill>
            <a:srgbClr val="EAF7F4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5056632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tabanının altına asla inmez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Kendini Optimize Eden Strateji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her fiyat kararının sonucunu ölçer ve öğrenir (pekiştirmeli öğrenme). Hangi indirim düzeyinin en çok geliri getirdiğini zamanla kendisi bulur — statik kurallar gibi yerinde saymaz, kullandıkça daha iyi çalışır.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1264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fiyat isabeti — zamanla (%)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5074920"/>
            <a:ext cx="5440680" cy="0"/>
          </a:xfrm>
          <a:prstGeom prst="line">
            <a:avLst/>
          </a:prstGeom>
          <a:noFill/>
          <a:ln w="12700">
            <a:solidFill>
              <a:srgbClr val="D5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4476206"/>
            <a:ext cx="420624" cy="598714"/>
          </a:xfrm>
          <a:prstGeom prst="roundRect">
            <a:avLst>
              <a:gd name="adj" fmla="val 8696"/>
            </a:avLst>
          </a:prstGeom>
          <a:solidFill>
            <a:srgbClr val="00A896">
              <a:alpha val="5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418359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72200" y="5148072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93854" y="4140926"/>
            <a:ext cx="420624" cy="933994"/>
          </a:xfrm>
          <a:prstGeom prst="roundRect">
            <a:avLst>
              <a:gd name="adj" fmla="val 8696"/>
            </a:avLst>
          </a:prstGeom>
          <a:solidFill>
            <a:srgbClr val="00A896">
              <a:alpha val="61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856694" y="384831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6694" y="5148072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78347" y="3805646"/>
            <a:ext cx="420624" cy="1269274"/>
          </a:xfrm>
          <a:prstGeom prst="roundRect">
            <a:avLst>
              <a:gd name="adj" fmla="val 8696"/>
            </a:avLst>
          </a:prstGeom>
          <a:solidFill>
            <a:srgbClr val="00A896">
              <a:alpha val="67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541187" y="351303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541187" y="5148072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362841" y="3566160"/>
            <a:ext cx="420624" cy="1508760"/>
          </a:xfrm>
          <a:prstGeom prst="roundRect">
            <a:avLst>
              <a:gd name="adj" fmla="val 8696"/>
            </a:avLst>
          </a:prstGeom>
          <a:solidFill>
            <a:srgbClr val="00A896">
              <a:alpha val="73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25681" y="327355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5681" y="5148072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47335" y="3278777"/>
            <a:ext cx="420624" cy="1796143"/>
          </a:xfrm>
          <a:prstGeom prst="roundRect">
            <a:avLst>
              <a:gd name="adj" fmla="val 8696"/>
            </a:avLst>
          </a:prstGeom>
          <a:solidFill>
            <a:srgbClr val="00A896">
              <a:alpha val="79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910175" y="2986169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10175" y="5148072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731829" y="3039291"/>
            <a:ext cx="420624" cy="2035629"/>
          </a:xfrm>
          <a:prstGeom prst="roundRect">
            <a:avLst>
              <a:gd name="adj" fmla="val 8696"/>
            </a:avLst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594669" y="2746683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594669" y="5148072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416322" y="2847703"/>
            <a:ext cx="420624" cy="2227217"/>
          </a:xfrm>
          <a:prstGeom prst="roundRect">
            <a:avLst>
              <a:gd name="adj" fmla="val 8696"/>
            </a:avLst>
          </a:prstGeom>
          <a:solidFill>
            <a:srgbClr val="00A896">
              <a:alpha val="91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279162" y="2555095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279162" y="5148072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1100816" y="2704011"/>
            <a:ext cx="420624" cy="2370909"/>
          </a:xfrm>
          <a:prstGeom prst="roundRect">
            <a:avLst>
              <a:gd name="adj" fmla="val 8696"/>
            </a:avLst>
          </a:prstGeom>
          <a:solidFill>
            <a:srgbClr val="00A896">
              <a:alpha val="97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963656" y="2411403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963656" y="5148072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İllüstratif: sistem veri biriktikçe daha isabetli fiyat verir.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Yönetişim ve Kontrol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Otonom, ama kontrollü — 'başıboş bot' değil.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11055096" cy="868680"/>
          </a:xfrm>
          <a:prstGeom prst="roundRect">
            <a:avLst>
              <a:gd name="adj" fmla="val 736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3570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2357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18488" y="20574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Fiyat tabanı ve tavanı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47488" y="2057400"/>
            <a:ext cx="6300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Tanımlı sınırların dışına asla çıkamaz.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3108960"/>
            <a:ext cx="11055096" cy="868680"/>
          </a:xfrm>
          <a:prstGeom prst="roundRect">
            <a:avLst>
              <a:gd name="adj" fmla="val 736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328726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2872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18488" y="3108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denetim kaydı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47488" y="3108960"/>
            <a:ext cx="6300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karar, gerekçesiyle birlikte loglanır.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4160520"/>
            <a:ext cx="11055096" cy="868680"/>
          </a:xfrm>
          <a:prstGeom prst="roundRect">
            <a:avLst>
              <a:gd name="adj" fmla="val 736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433882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3388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18488" y="41605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İnsan onay eşiği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47488" y="4160520"/>
            <a:ext cx="6300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Strateji tükendiğinde otomatik olarak yetkiliye devreder.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66928" y="5212080"/>
            <a:ext cx="11055096" cy="868680"/>
          </a:xfrm>
          <a:prstGeom prst="roundRect">
            <a:avLst>
              <a:gd name="adj" fmla="val 7368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5390388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3903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18488" y="52120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 görünürlük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47488" y="5212080"/>
            <a:ext cx="6300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kararlar ve etkileri denetim panosunda izlenir.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00A89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663440"/>
            <a:ext cx="3657600" cy="36576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0233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GETIRI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 Etkisi ve ROI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Perakendeci düzeyinde — örnek senaryo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2615184" cy="1874520"/>
          </a:xfrm>
          <a:prstGeom prst="roundRect">
            <a:avLst>
              <a:gd name="adj" fmla="val 4878"/>
            </a:avLst>
          </a:prstGeom>
          <a:solidFill>
            <a:srgbClr val="1E3050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084832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+₺720K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04088" y="285292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ciro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320040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kazanılan satış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38144" y="1828800"/>
            <a:ext cx="2615184" cy="1874520"/>
          </a:xfrm>
          <a:prstGeom prst="roundRect">
            <a:avLst>
              <a:gd name="adj" fmla="val 4878"/>
            </a:avLst>
          </a:prstGeom>
          <a:solidFill>
            <a:srgbClr val="1E3050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2084832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+₺288K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3575304" y="285292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Korunan yıllık marj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75304" y="320040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 indirimin önlenmesi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2615184" cy="1874520"/>
          </a:xfrm>
          <a:prstGeom prst="roundRect">
            <a:avLst>
              <a:gd name="adj" fmla="val 4878"/>
            </a:avLst>
          </a:prstGeom>
          <a:solidFill>
            <a:srgbClr val="1E305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084832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~%2,6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6446520" y="285292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Kâr artışı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320040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yıllık etki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0576" y="1828800"/>
            <a:ext cx="2615184" cy="1874520"/>
          </a:xfrm>
          <a:prstGeom prst="roundRect">
            <a:avLst>
              <a:gd name="adj" fmla="val 4878"/>
            </a:avLst>
          </a:prstGeom>
          <a:solidFill>
            <a:srgbClr val="1E3050"/>
          </a:solidFill>
          <a:ln/>
        </p:spPr>
      </p:sp>
      <p:sp>
        <p:nvSpPr>
          <p:cNvPr id="20" name="Text 18"/>
          <p:cNvSpPr/>
          <p:nvPr/>
        </p:nvSpPr>
        <p:spPr>
          <a:xfrm>
            <a:off x="9317736" y="2084832"/>
            <a:ext cx="2340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~15 sa/hf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9317736" y="285292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iş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17736" y="320040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ortadan kalkan fiyat işi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397764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Heweso düzeyinde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343400"/>
            <a:ext cx="3502152" cy="1143000"/>
          </a:xfrm>
          <a:prstGeom prst="roundRect">
            <a:avLst>
              <a:gd name="adj" fmla="val 7200"/>
            </a:avLst>
          </a:prstGeom>
          <a:solidFill>
            <a:srgbClr val="00A896">
              <a:alpha val="1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4897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Farklılaşma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4873752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platformlarda olmayan premium yetkinlik.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61688" y="4343400"/>
            <a:ext cx="3502152" cy="1143000"/>
          </a:xfrm>
          <a:prstGeom prst="roundRect">
            <a:avLst>
              <a:gd name="adj" fmla="val 7200"/>
            </a:avLst>
          </a:prstGeom>
          <a:solidFill>
            <a:srgbClr val="00A896">
              <a:alpha val="1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44897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Bağlılık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17720" y="4873752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Perakendeci churn'ü azalır, platform daha yapışkan olur.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56448" y="4343400"/>
            <a:ext cx="3502152" cy="1143000"/>
          </a:xfrm>
          <a:prstGeom prst="roundRect">
            <a:avLst>
              <a:gd name="adj" fmla="val 7200"/>
            </a:avLst>
          </a:prstGeom>
          <a:solidFill>
            <a:srgbClr val="00A896">
              <a:alpha val="1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44897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Büyüme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12480" y="4873752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ve ARPU artışı için yeni gelir kanalı.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6928" y="612648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Rakamlar örnek varsayıma dayalıdır.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GÜVENILIRLIK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 ve Mimari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30952" cy="1554480"/>
          </a:xfrm>
          <a:prstGeom prst="roundRect">
            <a:avLst>
              <a:gd name="adj" fmla="val 529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4688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64208" y="224028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Buluta özgü (AWS)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64208" y="2679192"/>
            <a:ext cx="3959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Yönetilen, güvenilir bulut servisleri üzerinde çalışır.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30952" cy="1554480"/>
          </a:xfrm>
          <a:prstGeom prst="roundRect">
            <a:avLst>
              <a:gd name="adj" fmla="val 529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4688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0" y="224028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Ölçeklenebilir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0" y="2679192"/>
            <a:ext cx="3959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üründen tüm kataloğa; yükle birlikte büyür.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794760"/>
            <a:ext cx="5330952" cy="1554480"/>
          </a:xfrm>
          <a:prstGeom prst="roundRect">
            <a:avLst>
              <a:gd name="adj" fmla="val 529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6968" y="42976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64208" y="406908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64208" y="4507992"/>
            <a:ext cx="3959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Erişim kontrolü ve uçtan uca denetim izi.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330952" cy="1554480"/>
          </a:xfrm>
          <a:prstGeom prst="roundRect">
            <a:avLst>
              <a:gd name="adj" fmla="val 5294"/>
            </a:avLst>
          </a:prstGeom>
          <a:solidFill>
            <a:srgbClr val="EEF2FB"/>
          </a:solidFill>
          <a:ln/>
          <a:effectLst>
            <a:outerShdw sx="100000" sy="100000" kx="0" ky="0" algn="bl" rotWithShape="0" blurRad="76200" dist="38100" dir="5400000">
              <a:srgbClr val="9AA6BC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976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0" y="406908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Entegre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0" y="4507992"/>
            <a:ext cx="3959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Heweso altyapısına oturur; ek operasyonel yük getirmez.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562356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Otonom çalışır; tam görünürlük denetim panosu ile sağlanır.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00A89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663440"/>
            <a:ext cx="3657600" cy="36576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402336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KAPANIŞ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58368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Sonraki Adımlar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8686800" cy="960120"/>
          </a:xfrm>
          <a:prstGeom prst="roundRect">
            <a:avLst>
              <a:gd name="adj" fmla="val 7619"/>
            </a:avLst>
          </a:prstGeom>
          <a:solidFill>
            <a:srgbClr val="1E3050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20802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2080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64208" y="18745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kapsamı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07408" y="18745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Seçili bir perakendeci segmentiyle başlıyoruz.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3090672"/>
            <a:ext cx="8686800" cy="960120"/>
          </a:xfrm>
          <a:prstGeom prst="roundRect">
            <a:avLst>
              <a:gd name="adj" fmla="val 7619"/>
            </a:avLst>
          </a:prstGeom>
          <a:solidFill>
            <a:srgbClr val="1E3050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" y="3296412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" y="32964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64208" y="309067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Başarı ölçütleri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07408" y="309067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Marj, ciro ve tepki süresini birlikte tanımlıyoruz.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" y="4306824"/>
            <a:ext cx="8686800" cy="960120"/>
          </a:xfrm>
          <a:prstGeom prst="roundRect">
            <a:avLst>
              <a:gd name="adj" fmla="val 7619"/>
            </a:avLst>
          </a:prstGeom>
          <a:solidFill>
            <a:srgbClr val="1E3050"/>
          </a:solidFill>
          <a:ln/>
        </p:spPr>
      </p:sp>
      <p:sp>
        <p:nvSpPr>
          <p:cNvPr id="17" name="Shape 15"/>
          <p:cNvSpPr/>
          <p:nvPr/>
        </p:nvSpPr>
        <p:spPr>
          <a:xfrm>
            <a:off x="859536" y="4512564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" y="45125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64208" y="43068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Değerlendirme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07408" y="4306824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gün sonunda sonuçları ölçüp yaygınlaştırma kararını veriyoruz.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66928" y="5349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5349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sonraki adım: pilot kapsamını birlikte belirleyelim.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Heweso Pricing Agent — Satış Sunumu</dc:title>
  <dc:subject>PptxGenJS Presentation</dc:subject>
  <dc:creator>Heweso</dc:creator>
  <cp:lastModifiedBy>Heweso</cp:lastModifiedBy>
  <cp:revision>1</cp:revision>
  <dcterms:created xsi:type="dcterms:W3CDTF">2026-08-03T13:53:58Z</dcterms:created>
  <dcterms:modified xsi:type="dcterms:W3CDTF">2026-08-03T13:53:58Z</dcterms:modified>
</cp:coreProperties>
</file>