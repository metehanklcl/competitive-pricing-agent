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8229600"/>
  <p:notesSz cx="82296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Akıllı Fiyatlandırma Ajanı  —  Uçtan Uca Sistem Akışı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AWS eu-central-1 · Bedrock Nova Lite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1673352" cy="365760"/>
          </a:xfrm>
          <a:prstGeom prst="rect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7132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713232"/>
            <a:ext cx="3108960" cy="365760"/>
          </a:xfrm>
          <a:prstGeom prst="rect">
            <a:avLst/>
          </a:prstGeom>
          <a:solidFill>
            <a:srgbClr val="2C6E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713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&amp; VERİ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713232"/>
            <a:ext cx="1417320" cy="365760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7132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TETİKLEME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713232"/>
            <a:ext cx="5769864" cy="365760"/>
          </a:xfrm>
          <a:prstGeom prst="rect">
            <a:avLst/>
          </a:prstGeom>
          <a:solidFill>
            <a:srgbClr val="C0562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713232"/>
            <a:ext cx="5769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BULUT SERVİSLERİ  ·  eu-central-1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" y="1170432"/>
            <a:ext cx="11969496" cy="1335024"/>
          </a:xfrm>
          <a:prstGeom prst="rect">
            <a:avLst/>
          </a:prstGeom>
          <a:solidFill>
            <a:srgbClr val="FAFBF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" y="1170432"/>
            <a:ext cx="11969496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" y="1211580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19456" y="121158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1170432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 · KURULUM &amp; İZLEME — Yönetici kataloğu ve fiyatları panelden yönetir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" y="1554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55064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4612" y="20665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4612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249424" y="1554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C6E49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65506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869948" y="20665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869948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SSE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621024" y="1554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C6E49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608" y="16550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241548" y="20665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Simülasyon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241548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+ rakip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876288" y="1554480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F51B5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655064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496812" y="20665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496812" y="22951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tablo · kaynak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1207008" y="1792224"/>
            <a:ext cx="10149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35" name="Text 29"/>
          <p:cNvSpPr/>
          <p:nvPr/>
        </p:nvSpPr>
        <p:spPr>
          <a:xfrm>
            <a:off x="1115568" y="15361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 açar</a:t>
            </a:r>
            <a:endParaRPr lang="en-US" sz="750" dirty="0"/>
          </a:p>
        </p:txBody>
      </p:sp>
      <p:sp>
        <p:nvSpPr>
          <p:cNvPr id="36" name="Shape 30"/>
          <p:cNvSpPr/>
          <p:nvPr/>
        </p:nvSpPr>
        <p:spPr>
          <a:xfrm>
            <a:off x="2752344" y="1792224"/>
            <a:ext cx="841248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37" name="Text 31"/>
          <p:cNvSpPr/>
          <p:nvPr/>
        </p:nvSpPr>
        <p:spPr>
          <a:xfrm>
            <a:off x="2660904" y="153619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üretir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4123944" y="1792224"/>
            <a:ext cx="2724912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39" name="Text 33"/>
          <p:cNvSpPr/>
          <p:nvPr/>
        </p:nvSpPr>
        <p:spPr>
          <a:xfrm>
            <a:off x="4032504" y="153619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yazar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109728" y="2560320"/>
            <a:ext cx="11969496" cy="133502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1" name="Shape 35"/>
          <p:cNvSpPr/>
          <p:nvPr/>
        </p:nvSpPr>
        <p:spPr>
          <a:xfrm>
            <a:off x="109728" y="2560320"/>
            <a:ext cx="11969496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Shape 36"/>
          <p:cNvSpPr/>
          <p:nvPr/>
        </p:nvSpPr>
        <p:spPr>
          <a:xfrm>
            <a:off x="219456" y="2601468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219456" y="260146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548640" y="256032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2 · TETİKLEME — EventBridge ajanı her dakika çağırır  (varsayılan KAPALI · maliyet koruması)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5358384" y="2944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D6336C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044952"/>
            <a:ext cx="274320" cy="27432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978908" y="34564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4978908" y="3685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rate(1 dk)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6876288" y="2944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D7D3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3044952"/>
            <a:ext cx="274320" cy="27432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496812" y="34564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6496812" y="3685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pricing-agent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8193024" y="2944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F51B5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08" y="3044952"/>
            <a:ext cx="274320" cy="27432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7813548" y="34564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query_sales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7813548" y="3685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dk kontrol</a:t>
            </a:r>
            <a:endParaRPr lang="en-US" sz="800" dirty="0"/>
          </a:p>
        </p:txBody>
      </p:sp>
      <p:sp>
        <p:nvSpPr>
          <p:cNvPr id="57" name="Shape 48"/>
          <p:cNvSpPr/>
          <p:nvPr/>
        </p:nvSpPr>
        <p:spPr>
          <a:xfrm>
            <a:off x="9509760" y="2944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5A6B85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0344" y="3044952"/>
            <a:ext cx="274320" cy="27432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130284" y="34564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9130284" y="368503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sağlıklı=atla</a:t>
            </a:r>
            <a:endParaRPr lang="en-US" sz="800" dirty="0"/>
          </a:p>
        </p:txBody>
      </p:sp>
      <p:sp>
        <p:nvSpPr>
          <p:cNvPr id="61" name="Shape 51"/>
          <p:cNvSpPr/>
          <p:nvPr/>
        </p:nvSpPr>
        <p:spPr>
          <a:xfrm>
            <a:off x="5861304" y="3182112"/>
            <a:ext cx="987552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62" name="Text 52"/>
          <p:cNvSpPr/>
          <p:nvPr/>
        </p:nvSpPr>
        <p:spPr>
          <a:xfrm>
            <a:off x="5769864" y="29260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çağırır</a:t>
            </a:r>
            <a:endParaRPr lang="en-US" sz="750" dirty="0"/>
          </a:p>
        </p:txBody>
      </p:sp>
      <p:sp>
        <p:nvSpPr>
          <p:cNvPr id="63" name="Shape 53"/>
          <p:cNvSpPr/>
          <p:nvPr/>
        </p:nvSpPr>
        <p:spPr>
          <a:xfrm>
            <a:off x="7379208" y="3182112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64" name="Text 54"/>
          <p:cNvSpPr/>
          <p:nvPr/>
        </p:nvSpPr>
        <p:spPr>
          <a:xfrm>
            <a:off x="7287768" y="292608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tarar</a:t>
            </a:r>
            <a:endParaRPr lang="en-US" sz="750" dirty="0"/>
          </a:p>
        </p:txBody>
      </p:sp>
      <p:sp>
        <p:nvSpPr>
          <p:cNvPr id="65" name="Shape 55"/>
          <p:cNvSpPr/>
          <p:nvPr/>
        </p:nvSpPr>
        <p:spPr>
          <a:xfrm>
            <a:off x="8695944" y="3182112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66" name="Text 56"/>
          <p:cNvSpPr/>
          <p:nvPr/>
        </p:nvSpPr>
        <p:spPr>
          <a:xfrm>
            <a:off x="8604504" y="292608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→ LOOP 3</a:t>
            </a:r>
            <a:endParaRPr lang="en-US" sz="750" dirty="0"/>
          </a:p>
        </p:txBody>
      </p:sp>
      <p:sp>
        <p:nvSpPr>
          <p:cNvPr id="67" name="Shape 57"/>
          <p:cNvSpPr/>
          <p:nvPr/>
        </p:nvSpPr>
        <p:spPr>
          <a:xfrm>
            <a:off x="109728" y="3950208"/>
            <a:ext cx="11969496" cy="1335024"/>
          </a:xfrm>
          <a:prstGeom prst="rect">
            <a:avLst/>
          </a:prstGeom>
          <a:solidFill>
            <a:srgbClr val="FAFBFE"/>
          </a:solidFill>
          <a:ln/>
        </p:spPr>
      </p:sp>
      <p:sp>
        <p:nvSpPr>
          <p:cNvPr id="68" name="Shape 58"/>
          <p:cNvSpPr/>
          <p:nvPr/>
        </p:nvSpPr>
        <p:spPr>
          <a:xfrm>
            <a:off x="109728" y="3950208"/>
            <a:ext cx="11969496" cy="292608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9" name="Shape 59"/>
          <p:cNvSpPr/>
          <p:nvPr/>
        </p:nvSpPr>
        <p:spPr>
          <a:xfrm>
            <a:off x="219456" y="3991356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Text 60"/>
          <p:cNvSpPr/>
          <p:nvPr/>
        </p:nvSpPr>
        <p:spPr>
          <a:xfrm>
            <a:off x="219456" y="399135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Text 61"/>
          <p:cNvSpPr/>
          <p:nvPr/>
        </p:nvSpPr>
        <p:spPr>
          <a:xfrm>
            <a:off x="548640" y="395020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3 · AJAN KARARI — Bedrock ReAct döngüsü · 14 araç  (algı → muhakeme → aksiyon)</a:t>
            </a:r>
            <a:endParaRPr lang="en-US" sz="1100" dirty="0"/>
          </a:p>
        </p:txBody>
      </p:sp>
      <p:sp>
        <p:nvSpPr>
          <p:cNvPr id="72" name="Shape 62"/>
          <p:cNvSpPr/>
          <p:nvPr/>
        </p:nvSpPr>
        <p:spPr>
          <a:xfrm>
            <a:off x="704088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4434840"/>
            <a:ext cx="274320" cy="274320"/>
          </a:xfrm>
          <a:prstGeom prst="rect">
            <a:avLst/>
          </a:prstGeom>
        </p:spPr>
      </p:pic>
      <p:sp>
        <p:nvSpPr>
          <p:cNvPr id="74" name="Text 63"/>
          <p:cNvSpPr/>
          <p:nvPr/>
        </p:nvSpPr>
        <p:spPr>
          <a:xfrm>
            <a:off x="324612" y="4846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</a:t>
            </a:r>
            <a:endParaRPr lang="en-US" sz="1000" dirty="0"/>
          </a:p>
        </p:txBody>
      </p:sp>
      <p:sp>
        <p:nvSpPr>
          <p:cNvPr id="75" name="Text 64"/>
          <p:cNvSpPr/>
          <p:nvPr/>
        </p:nvSpPr>
        <p:spPr>
          <a:xfrm>
            <a:off x="324612" y="5074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&amp; rakip</a:t>
            </a:r>
            <a:endParaRPr lang="en-US" sz="800" dirty="0"/>
          </a:p>
        </p:txBody>
      </p:sp>
      <p:sp>
        <p:nvSpPr>
          <p:cNvPr id="76" name="Shape 65"/>
          <p:cNvSpPr/>
          <p:nvPr/>
        </p:nvSpPr>
        <p:spPr>
          <a:xfrm>
            <a:off x="6876288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7B2FBE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4434840"/>
            <a:ext cx="274320" cy="274320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6496812" y="4846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1000" dirty="0"/>
          </a:p>
        </p:txBody>
      </p:sp>
      <p:sp>
        <p:nvSpPr>
          <p:cNvPr id="79" name="Text 67"/>
          <p:cNvSpPr/>
          <p:nvPr/>
        </p:nvSpPr>
        <p:spPr>
          <a:xfrm>
            <a:off x="6496812" y="5074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Lite · ReAct</a:t>
            </a:r>
            <a:endParaRPr lang="en-US" sz="800" dirty="0"/>
          </a:p>
        </p:txBody>
      </p:sp>
      <p:sp>
        <p:nvSpPr>
          <p:cNvPr id="80" name="Shape 68"/>
          <p:cNvSpPr/>
          <p:nvPr/>
        </p:nvSpPr>
        <p:spPr>
          <a:xfrm>
            <a:off x="8193024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3608" y="4434840"/>
            <a:ext cx="274320" cy="274320"/>
          </a:xfrm>
          <a:prstGeom prst="rect">
            <a:avLst/>
          </a:prstGeom>
        </p:spPr>
      </p:pic>
      <p:sp>
        <p:nvSpPr>
          <p:cNvPr id="82" name="Text 69"/>
          <p:cNvSpPr/>
          <p:nvPr/>
        </p:nvSpPr>
        <p:spPr>
          <a:xfrm>
            <a:off x="7813548" y="4846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Araç</a:t>
            </a:r>
            <a:endParaRPr lang="en-US" sz="1000" dirty="0"/>
          </a:p>
        </p:txBody>
      </p:sp>
      <p:sp>
        <p:nvSpPr>
          <p:cNvPr id="83" name="Text 70"/>
          <p:cNvSpPr/>
          <p:nvPr/>
        </p:nvSpPr>
        <p:spPr>
          <a:xfrm>
            <a:off x="7813548" y="5074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rakip · zaman</a:t>
            </a:r>
            <a:endParaRPr lang="en-US" sz="800" dirty="0"/>
          </a:p>
        </p:txBody>
      </p:sp>
      <p:sp>
        <p:nvSpPr>
          <p:cNvPr id="84" name="Shape 71"/>
          <p:cNvSpPr/>
          <p:nvPr/>
        </p:nvSpPr>
        <p:spPr>
          <a:xfrm>
            <a:off x="950976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7B2FBE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0344" y="4434840"/>
            <a:ext cx="274320" cy="27432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9130284" y="4846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decide_price</a:t>
            </a:r>
            <a:endParaRPr lang="en-US" sz="1000" dirty="0"/>
          </a:p>
        </p:txBody>
      </p:sp>
      <p:sp>
        <p:nvSpPr>
          <p:cNvPr id="87" name="Text 73"/>
          <p:cNvSpPr/>
          <p:nvPr/>
        </p:nvSpPr>
        <p:spPr>
          <a:xfrm>
            <a:off x="9130284" y="50749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Python'da</a:t>
            </a:r>
            <a:endParaRPr lang="en-US" sz="800" dirty="0"/>
          </a:p>
        </p:txBody>
      </p:sp>
      <p:sp>
        <p:nvSpPr>
          <p:cNvPr id="88" name="Shape 74"/>
          <p:cNvSpPr/>
          <p:nvPr/>
        </p:nvSpPr>
        <p:spPr>
          <a:xfrm>
            <a:off x="1207008" y="4572000"/>
            <a:ext cx="5641848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89" name="Text 75"/>
          <p:cNvSpPr/>
          <p:nvPr/>
        </p:nvSpPr>
        <p:spPr>
          <a:xfrm>
            <a:off x="1115568" y="4315968"/>
            <a:ext cx="5824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tetikler</a:t>
            </a:r>
            <a:endParaRPr lang="en-US" sz="750" dirty="0"/>
          </a:p>
        </p:txBody>
      </p:sp>
      <p:sp>
        <p:nvSpPr>
          <p:cNvPr id="90" name="Shape 76"/>
          <p:cNvSpPr/>
          <p:nvPr/>
        </p:nvSpPr>
        <p:spPr>
          <a:xfrm>
            <a:off x="7379208" y="4572000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91" name="Text 77"/>
          <p:cNvSpPr/>
          <p:nvPr/>
        </p:nvSpPr>
        <p:spPr>
          <a:xfrm>
            <a:off x="7287768" y="431596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muhakeme</a:t>
            </a:r>
            <a:endParaRPr lang="en-US" sz="750" dirty="0"/>
          </a:p>
        </p:txBody>
      </p:sp>
      <p:sp>
        <p:nvSpPr>
          <p:cNvPr id="92" name="Shape 78"/>
          <p:cNvSpPr/>
          <p:nvPr/>
        </p:nvSpPr>
        <p:spPr>
          <a:xfrm>
            <a:off x="8695944" y="4572000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93" name="Text 79"/>
          <p:cNvSpPr/>
          <p:nvPr/>
        </p:nvSpPr>
        <p:spPr>
          <a:xfrm>
            <a:off x="8604504" y="4315968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seçer</a:t>
            </a:r>
            <a:endParaRPr lang="en-US" sz="750" dirty="0"/>
          </a:p>
        </p:txBody>
      </p:sp>
      <p:sp>
        <p:nvSpPr>
          <p:cNvPr id="94" name="Shape 80"/>
          <p:cNvSpPr/>
          <p:nvPr/>
        </p:nvSpPr>
        <p:spPr>
          <a:xfrm>
            <a:off x="10287000" y="431596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sp>
        <p:nvSpPr>
          <p:cNvPr id="95" name="Text 81"/>
          <p:cNvSpPr/>
          <p:nvPr/>
        </p:nvSpPr>
        <p:spPr>
          <a:xfrm>
            <a:off x="10287000" y="4315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GÜNCELLE</a:t>
            </a:r>
            <a:endParaRPr lang="en-US" sz="950" dirty="0"/>
          </a:p>
        </p:txBody>
      </p:sp>
      <p:sp>
        <p:nvSpPr>
          <p:cNvPr id="96" name="Text 82"/>
          <p:cNvSpPr/>
          <p:nvPr/>
        </p:nvSpPr>
        <p:spPr>
          <a:xfrm>
            <a:off x="10287000" y="454456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update_price → log + SES</a:t>
            </a:r>
            <a:endParaRPr lang="en-US" sz="700" dirty="0"/>
          </a:p>
        </p:txBody>
      </p:sp>
      <p:sp>
        <p:nvSpPr>
          <p:cNvPr id="97" name="Shape 83"/>
          <p:cNvSpPr/>
          <p:nvPr/>
        </p:nvSpPr>
        <p:spPr>
          <a:xfrm>
            <a:off x="10287000" y="488289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sp>
        <p:nvSpPr>
          <p:cNvPr id="98" name="Text 84"/>
          <p:cNvSpPr/>
          <p:nvPr/>
        </p:nvSpPr>
        <p:spPr>
          <a:xfrm>
            <a:off x="10287000" y="48828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ESCALATE</a:t>
            </a:r>
            <a:endParaRPr lang="en-US" sz="950" dirty="0"/>
          </a:p>
        </p:txBody>
      </p:sp>
      <p:sp>
        <p:nvSpPr>
          <p:cNvPr id="99" name="Text 85"/>
          <p:cNvSpPr/>
          <p:nvPr/>
        </p:nvSpPr>
        <p:spPr>
          <a:xfrm>
            <a:off x="10287000" y="5111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B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insana devret · e-posta</a:t>
            </a:r>
            <a:endParaRPr lang="en-US" sz="700" dirty="0"/>
          </a:p>
        </p:txBody>
      </p:sp>
      <p:sp>
        <p:nvSpPr>
          <p:cNvPr id="100" name="Shape 86"/>
          <p:cNvSpPr/>
          <p:nvPr/>
        </p:nvSpPr>
        <p:spPr>
          <a:xfrm>
            <a:off x="10012680" y="4526280"/>
            <a:ext cx="246888" cy="-4572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101" name="Shape 87"/>
          <p:cNvSpPr/>
          <p:nvPr/>
        </p:nvSpPr>
        <p:spPr>
          <a:xfrm>
            <a:off x="10012680" y="4617720"/>
            <a:ext cx="246888" cy="6858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2" name="Shape 88"/>
          <p:cNvSpPr/>
          <p:nvPr/>
        </p:nvSpPr>
        <p:spPr>
          <a:xfrm>
            <a:off x="109728" y="5340096"/>
            <a:ext cx="11969496" cy="1335024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3" name="Shape 89"/>
          <p:cNvSpPr/>
          <p:nvPr/>
        </p:nvSpPr>
        <p:spPr>
          <a:xfrm>
            <a:off x="109728" y="5340096"/>
            <a:ext cx="11969496" cy="292608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104" name="Shape 90"/>
          <p:cNvSpPr/>
          <p:nvPr/>
        </p:nvSpPr>
        <p:spPr>
          <a:xfrm>
            <a:off x="219456" y="5381244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5" name="Text 91"/>
          <p:cNvSpPr/>
          <p:nvPr/>
        </p:nvSpPr>
        <p:spPr>
          <a:xfrm>
            <a:off x="219456" y="5381244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6" name="Text 92"/>
          <p:cNvSpPr/>
          <p:nvPr/>
        </p:nvSpPr>
        <p:spPr>
          <a:xfrm>
            <a:off x="548640" y="534009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4 · VERİ HATTI — Medallion Bronze→Silver→Gold  (saatlik, Lambda içinde) + dbt</a:t>
            </a:r>
            <a:endParaRPr lang="en-US" sz="1100" dirty="0"/>
          </a:p>
        </p:txBody>
      </p:sp>
      <p:sp>
        <p:nvSpPr>
          <p:cNvPr id="107" name="Shape 93"/>
          <p:cNvSpPr/>
          <p:nvPr/>
        </p:nvSpPr>
        <p:spPr>
          <a:xfrm>
            <a:off x="704088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3F51B5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0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" y="5824728"/>
            <a:ext cx="274320" cy="274320"/>
          </a:xfrm>
          <a:prstGeom prst="rect">
            <a:avLst/>
          </a:prstGeom>
        </p:spPr>
      </p:pic>
      <p:sp>
        <p:nvSpPr>
          <p:cNvPr id="109" name="Text 94"/>
          <p:cNvSpPr/>
          <p:nvPr/>
        </p:nvSpPr>
        <p:spPr>
          <a:xfrm>
            <a:off x="324612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000" dirty="0"/>
          </a:p>
        </p:txBody>
      </p:sp>
      <p:sp>
        <p:nvSpPr>
          <p:cNvPr id="110" name="Text 95"/>
          <p:cNvSpPr/>
          <p:nvPr/>
        </p:nvSpPr>
        <p:spPr>
          <a:xfrm>
            <a:off x="324612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</a:t>
            </a:r>
            <a:endParaRPr lang="en-US" sz="800" dirty="0"/>
          </a:p>
        </p:txBody>
      </p:sp>
      <p:sp>
        <p:nvSpPr>
          <p:cNvPr id="111" name="Shape 96"/>
          <p:cNvSpPr/>
          <p:nvPr/>
        </p:nvSpPr>
        <p:spPr>
          <a:xfrm>
            <a:off x="5358384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1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8968" y="5824728"/>
            <a:ext cx="274320" cy="274320"/>
          </a:xfrm>
          <a:prstGeom prst="rect">
            <a:avLst/>
          </a:prstGeom>
        </p:spPr>
      </p:pic>
      <p:sp>
        <p:nvSpPr>
          <p:cNvPr id="113" name="Text 97"/>
          <p:cNvSpPr/>
          <p:nvPr/>
        </p:nvSpPr>
        <p:spPr>
          <a:xfrm>
            <a:off x="4978908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1000" dirty="0"/>
          </a:p>
        </p:txBody>
      </p:sp>
      <p:sp>
        <p:nvSpPr>
          <p:cNvPr id="114" name="Text 98"/>
          <p:cNvSpPr/>
          <p:nvPr/>
        </p:nvSpPr>
        <p:spPr>
          <a:xfrm>
            <a:off x="4978908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izole şema · manuel</a:t>
            </a:r>
            <a:endParaRPr lang="en-US" sz="800" dirty="0"/>
          </a:p>
        </p:txBody>
      </p:sp>
      <p:sp>
        <p:nvSpPr>
          <p:cNvPr id="115" name="Shape 99"/>
          <p:cNvSpPr/>
          <p:nvPr/>
        </p:nvSpPr>
        <p:spPr>
          <a:xfrm>
            <a:off x="6876288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D7D3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6872" y="5824728"/>
            <a:ext cx="274320" cy="274320"/>
          </a:xfrm>
          <a:prstGeom prst="rect">
            <a:avLst/>
          </a:prstGeom>
        </p:spPr>
      </p:pic>
      <p:sp>
        <p:nvSpPr>
          <p:cNvPr id="117" name="Text 100"/>
          <p:cNvSpPr/>
          <p:nvPr/>
        </p:nvSpPr>
        <p:spPr>
          <a:xfrm>
            <a:off x="6496812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export_to_s3</a:t>
            </a:r>
            <a:endParaRPr lang="en-US" sz="1000" dirty="0"/>
          </a:p>
        </p:txBody>
      </p:sp>
      <p:sp>
        <p:nvSpPr>
          <p:cNvPr id="118" name="Text 101"/>
          <p:cNvSpPr/>
          <p:nvPr/>
        </p:nvSpPr>
        <p:spPr>
          <a:xfrm>
            <a:off x="6496812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ham</a:t>
            </a:r>
            <a:endParaRPr lang="en-US" sz="800" dirty="0"/>
          </a:p>
        </p:txBody>
      </p:sp>
      <p:sp>
        <p:nvSpPr>
          <p:cNvPr id="119" name="Shape 102"/>
          <p:cNvSpPr/>
          <p:nvPr/>
        </p:nvSpPr>
        <p:spPr>
          <a:xfrm>
            <a:off x="8193024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D7D3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2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93608" y="5824728"/>
            <a:ext cx="274320" cy="274320"/>
          </a:xfrm>
          <a:prstGeom prst="rect">
            <a:avLst/>
          </a:prstGeom>
        </p:spPr>
      </p:pic>
      <p:sp>
        <p:nvSpPr>
          <p:cNvPr id="121" name="Text 103"/>
          <p:cNvSpPr/>
          <p:nvPr/>
        </p:nvSpPr>
        <p:spPr>
          <a:xfrm>
            <a:off x="7813548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silver.py</a:t>
            </a:r>
            <a:endParaRPr lang="en-US" sz="1000" dirty="0"/>
          </a:p>
        </p:txBody>
      </p:sp>
      <p:sp>
        <p:nvSpPr>
          <p:cNvPr id="122" name="Text 104"/>
          <p:cNvSpPr/>
          <p:nvPr/>
        </p:nvSpPr>
        <p:spPr>
          <a:xfrm>
            <a:off x="7813548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+ join</a:t>
            </a:r>
            <a:endParaRPr lang="en-US" sz="800" dirty="0"/>
          </a:p>
        </p:txBody>
      </p:sp>
      <p:sp>
        <p:nvSpPr>
          <p:cNvPr id="123" name="Shape 105"/>
          <p:cNvSpPr/>
          <p:nvPr/>
        </p:nvSpPr>
        <p:spPr>
          <a:xfrm>
            <a:off x="9509760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D7D3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10344" y="5824728"/>
            <a:ext cx="274320" cy="274320"/>
          </a:xfrm>
          <a:prstGeom prst="rect">
            <a:avLst/>
          </a:prstGeom>
        </p:spPr>
      </p:pic>
      <p:sp>
        <p:nvSpPr>
          <p:cNvPr id="125" name="Text 106"/>
          <p:cNvSpPr/>
          <p:nvPr/>
        </p:nvSpPr>
        <p:spPr>
          <a:xfrm>
            <a:off x="9130284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gold.py</a:t>
            </a:r>
            <a:endParaRPr lang="en-US" sz="1000" dirty="0"/>
          </a:p>
        </p:txBody>
      </p:sp>
      <p:sp>
        <p:nvSpPr>
          <p:cNvPr id="126" name="Text 107"/>
          <p:cNvSpPr/>
          <p:nvPr/>
        </p:nvSpPr>
        <p:spPr>
          <a:xfrm>
            <a:off x="9130284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800" dirty="0"/>
          </a:p>
        </p:txBody>
      </p:sp>
      <p:sp>
        <p:nvSpPr>
          <p:cNvPr id="127" name="Shape 108"/>
          <p:cNvSpPr/>
          <p:nvPr/>
        </p:nvSpPr>
        <p:spPr>
          <a:xfrm>
            <a:off x="10826496" y="5724144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E7D32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27080" y="5824728"/>
            <a:ext cx="274320" cy="274320"/>
          </a:xfrm>
          <a:prstGeom prst="rect">
            <a:avLst/>
          </a:prstGeom>
        </p:spPr>
      </p:pic>
      <p:sp>
        <p:nvSpPr>
          <p:cNvPr id="129" name="Text 109"/>
          <p:cNvSpPr/>
          <p:nvPr/>
        </p:nvSpPr>
        <p:spPr>
          <a:xfrm>
            <a:off x="10447020" y="62362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Athena</a:t>
            </a:r>
            <a:endParaRPr lang="en-US" sz="1000" dirty="0"/>
          </a:p>
        </p:txBody>
      </p:sp>
      <p:sp>
        <p:nvSpPr>
          <p:cNvPr id="130" name="Text 110"/>
          <p:cNvSpPr/>
          <p:nvPr/>
        </p:nvSpPr>
        <p:spPr>
          <a:xfrm>
            <a:off x="10447020" y="6464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· Glue</a:t>
            </a:r>
            <a:endParaRPr lang="en-US" sz="800" dirty="0"/>
          </a:p>
        </p:txBody>
      </p:sp>
      <p:sp>
        <p:nvSpPr>
          <p:cNvPr id="131" name="Shape 111"/>
          <p:cNvSpPr/>
          <p:nvPr/>
        </p:nvSpPr>
        <p:spPr>
          <a:xfrm>
            <a:off x="1207008" y="5961888"/>
            <a:ext cx="5641848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2" name="Text 112"/>
          <p:cNvSpPr/>
          <p:nvPr/>
        </p:nvSpPr>
        <p:spPr>
          <a:xfrm>
            <a:off x="1115568" y="5705856"/>
            <a:ext cx="5824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750" dirty="0"/>
          </a:p>
        </p:txBody>
      </p:sp>
      <p:sp>
        <p:nvSpPr>
          <p:cNvPr id="133" name="Shape 113"/>
          <p:cNvSpPr/>
          <p:nvPr/>
        </p:nvSpPr>
        <p:spPr>
          <a:xfrm>
            <a:off x="7379208" y="5961888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4" name="Text 114"/>
          <p:cNvSpPr/>
          <p:nvPr/>
        </p:nvSpPr>
        <p:spPr>
          <a:xfrm>
            <a:off x="7287768" y="57058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dönüştür</a:t>
            </a:r>
            <a:endParaRPr lang="en-US" sz="750" dirty="0"/>
          </a:p>
        </p:txBody>
      </p:sp>
      <p:sp>
        <p:nvSpPr>
          <p:cNvPr id="135" name="Shape 115"/>
          <p:cNvSpPr/>
          <p:nvPr/>
        </p:nvSpPr>
        <p:spPr>
          <a:xfrm>
            <a:off x="8695944" y="5961888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6" name="Text 116"/>
          <p:cNvSpPr/>
          <p:nvPr/>
        </p:nvSpPr>
        <p:spPr>
          <a:xfrm>
            <a:off x="8604504" y="57058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750" dirty="0"/>
          </a:p>
        </p:txBody>
      </p:sp>
      <p:sp>
        <p:nvSpPr>
          <p:cNvPr id="137" name="Shape 117"/>
          <p:cNvSpPr/>
          <p:nvPr/>
        </p:nvSpPr>
        <p:spPr>
          <a:xfrm>
            <a:off x="10012680" y="5961888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8" name="Text 118"/>
          <p:cNvSpPr/>
          <p:nvPr/>
        </p:nvSpPr>
        <p:spPr>
          <a:xfrm>
            <a:off x="9921240" y="57058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</a:t>
            </a:r>
            <a:endParaRPr lang="en-US" sz="750" dirty="0"/>
          </a:p>
        </p:txBody>
      </p:sp>
      <p:sp>
        <p:nvSpPr>
          <p:cNvPr id="139" name="Text 119"/>
          <p:cNvSpPr/>
          <p:nvPr/>
        </p:nvSpPr>
        <p:spPr>
          <a:xfrm>
            <a:off x="1965960" y="5742432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araçlar Athena'dan Silver'ı sorgular · dbt, Silver/Gold'u izole şemada (heweso_analytics_dbt) yeniden üretir.</a:t>
            </a:r>
            <a:endParaRPr lang="en-US" sz="800" dirty="0"/>
          </a:p>
        </p:txBody>
      </p:sp>
      <p:sp>
        <p:nvSpPr>
          <p:cNvPr id="140" name="Shape 120"/>
          <p:cNvSpPr/>
          <p:nvPr/>
        </p:nvSpPr>
        <p:spPr>
          <a:xfrm>
            <a:off x="109728" y="6729984"/>
            <a:ext cx="11969496" cy="1335024"/>
          </a:xfrm>
          <a:prstGeom prst="rect">
            <a:avLst/>
          </a:prstGeom>
          <a:solidFill>
            <a:srgbClr val="FAFBFE"/>
          </a:solidFill>
          <a:ln/>
        </p:spPr>
      </p:sp>
      <p:sp>
        <p:nvSpPr>
          <p:cNvPr id="141" name="Shape 121"/>
          <p:cNvSpPr/>
          <p:nvPr/>
        </p:nvSpPr>
        <p:spPr>
          <a:xfrm>
            <a:off x="109728" y="6729984"/>
            <a:ext cx="11969496" cy="292608"/>
          </a:xfrm>
          <a:prstGeom prst="rect">
            <a:avLst/>
          </a:prstGeom>
          <a:solidFill>
            <a:srgbClr val="7B241C"/>
          </a:solidFill>
          <a:ln/>
        </p:spPr>
      </p:sp>
      <p:sp>
        <p:nvSpPr>
          <p:cNvPr id="142" name="Shape 122"/>
          <p:cNvSpPr/>
          <p:nvPr/>
        </p:nvSpPr>
        <p:spPr>
          <a:xfrm>
            <a:off x="219456" y="6771132"/>
            <a:ext cx="210312" cy="2103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3" name="Text 123"/>
          <p:cNvSpPr/>
          <p:nvPr/>
        </p:nvSpPr>
        <p:spPr>
          <a:xfrm>
            <a:off x="219456" y="677113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4" name="Text 124"/>
          <p:cNvSpPr/>
          <p:nvPr/>
        </p:nvSpPr>
        <p:spPr>
          <a:xfrm>
            <a:off x="548640" y="6729984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5 · HAFTALIK ANALİTİK &amp; ÖĞRENME — rapor + epsilon-greedy uyarlama</a:t>
            </a:r>
            <a:endParaRPr lang="en-US" sz="1100" dirty="0"/>
          </a:p>
        </p:txBody>
      </p:sp>
      <p:sp>
        <p:nvSpPr>
          <p:cNvPr id="145" name="Shape 125"/>
          <p:cNvSpPr/>
          <p:nvPr/>
        </p:nvSpPr>
        <p:spPr>
          <a:xfrm>
            <a:off x="704088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4672" y="7214616"/>
            <a:ext cx="274320" cy="274320"/>
          </a:xfrm>
          <a:prstGeom prst="rect">
            <a:avLst/>
          </a:prstGeom>
        </p:spPr>
      </p:pic>
      <p:sp>
        <p:nvSpPr>
          <p:cNvPr id="147" name="Text 126"/>
          <p:cNvSpPr/>
          <p:nvPr/>
        </p:nvSpPr>
        <p:spPr>
          <a:xfrm>
            <a:off x="324612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Yönetici</a:t>
            </a:r>
            <a:endParaRPr lang="en-US" sz="1000" dirty="0"/>
          </a:p>
        </p:txBody>
      </p:sp>
      <p:sp>
        <p:nvSpPr>
          <p:cNvPr id="148" name="Text 127"/>
          <p:cNvSpPr/>
          <p:nvPr/>
        </p:nvSpPr>
        <p:spPr>
          <a:xfrm>
            <a:off x="324612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 alır</a:t>
            </a:r>
            <a:endParaRPr lang="en-US" sz="800" dirty="0"/>
          </a:p>
        </p:txBody>
      </p:sp>
      <p:sp>
        <p:nvSpPr>
          <p:cNvPr id="149" name="Shape 128"/>
          <p:cNvSpPr/>
          <p:nvPr/>
        </p:nvSpPr>
        <p:spPr>
          <a:xfrm>
            <a:off x="2249424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455A64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50008" y="7214616"/>
            <a:ext cx="274320" cy="274320"/>
          </a:xfrm>
          <a:prstGeom prst="rect">
            <a:avLst/>
          </a:prstGeom>
        </p:spPr>
      </p:pic>
      <p:sp>
        <p:nvSpPr>
          <p:cNvPr id="151" name="Text 129"/>
          <p:cNvSpPr/>
          <p:nvPr/>
        </p:nvSpPr>
        <p:spPr>
          <a:xfrm>
            <a:off x="1869948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52" name="Text 130"/>
          <p:cNvSpPr/>
          <p:nvPr/>
        </p:nvSpPr>
        <p:spPr>
          <a:xfrm>
            <a:off x="1869948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araç · yerel</a:t>
            </a:r>
            <a:endParaRPr lang="en-US" sz="800" dirty="0"/>
          </a:p>
        </p:txBody>
      </p:sp>
      <p:sp>
        <p:nvSpPr>
          <p:cNvPr id="153" name="Shape 131"/>
          <p:cNvSpPr/>
          <p:nvPr/>
        </p:nvSpPr>
        <p:spPr>
          <a:xfrm>
            <a:off x="3621024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C6E49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5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21608" y="7214616"/>
            <a:ext cx="274320" cy="274320"/>
          </a:xfrm>
          <a:prstGeom prst="rect">
            <a:avLst/>
          </a:prstGeom>
        </p:spPr>
      </p:pic>
      <p:sp>
        <p:nvSpPr>
          <p:cNvPr id="155" name="Text 132"/>
          <p:cNvSpPr/>
          <p:nvPr/>
        </p:nvSpPr>
        <p:spPr>
          <a:xfrm>
            <a:off x="3241548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endParaRPr lang="en-US" sz="1000" dirty="0"/>
          </a:p>
        </p:txBody>
      </p:sp>
      <p:sp>
        <p:nvSpPr>
          <p:cNvPr id="156" name="Text 133"/>
          <p:cNvSpPr/>
          <p:nvPr/>
        </p:nvSpPr>
        <p:spPr>
          <a:xfrm>
            <a:off x="3241548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oranları ↑</a:t>
            </a:r>
            <a:endParaRPr lang="en-US" sz="800" dirty="0"/>
          </a:p>
        </p:txBody>
      </p:sp>
      <p:sp>
        <p:nvSpPr>
          <p:cNvPr id="157" name="Shape 134"/>
          <p:cNvSpPr/>
          <p:nvPr/>
        </p:nvSpPr>
        <p:spPr>
          <a:xfrm>
            <a:off x="5358384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D6336C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5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8968" y="7214616"/>
            <a:ext cx="274320" cy="274320"/>
          </a:xfrm>
          <a:prstGeom prst="rect">
            <a:avLst/>
          </a:prstGeom>
        </p:spPr>
      </p:pic>
      <p:sp>
        <p:nvSpPr>
          <p:cNvPr id="159" name="Text 135"/>
          <p:cNvSpPr/>
          <p:nvPr/>
        </p:nvSpPr>
        <p:spPr>
          <a:xfrm>
            <a:off x="4978908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000" dirty="0"/>
          </a:p>
        </p:txBody>
      </p:sp>
      <p:sp>
        <p:nvSpPr>
          <p:cNvPr id="160" name="Text 136"/>
          <p:cNvSpPr/>
          <p:nvPr/>
        </p:nvSpPr>
        <p:spPr>
          <a:xfrm>
            <a:off x="4978908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cron</a:t>
            </a:r>
            <a:endParaRPr lang="en-US" sz="800" dirty="0"/>
          </a:p>
        </p:txBody>
      </p:sp>
      <p:sp>
        <p:nvSpPr>
          <p:cNvPr id="161" name="Shape 137"/>
          <p:cNvSpPr/>
          <p:nvPr/>
        </p:nvSpPr>
        <p:spPr>
          <a:xfrm>
            <a:off x="6876288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ED7D31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6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6872" y="7214616"/>
            <a:ext cx="274320" cy="274320"/>
          </a:xfrm>
          <a:prstGeom prst="rect">
            <a:avLst/>
          </a:prstGeom>
        </p:spPr>
      </p:pic>
      <p:sp>
        <p:nvSpPr>
          <p:cNvPr id="163" name="Text 138"/>
          <p:cNvSpPr/>
          <p:nvPr/>
        </p:nvSpPr>
        <p:spPr>
          <a:xfrm>
            <a:off x="6496812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λ</a:t>
            </a:r>
            <a:endParaRPr lang="en-US" sz="1000" dirty="0"/>
          </a:p>
        </p:txBody>
      </p:sp>
      <p:sp>
        <p:nvSpPr>
          <p:cNvPr id="164" name="Text 139"/>
          <p:cNvSpPr/>
          <p:nvPr/>
        </p:nvSpPr>
        <p:spPr>
          <a:xfrm>
            <a:off x="6496812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800" dirty="0"/>
          </a:p>
        </p:txBody>
      </p:sp>
      <p:sp>
        <p:nvSpPr>
          <p:cNvPr id="165" name="Shape 140"/>
          <p:cNvSpPr/>
          <p:nvPr/>
        </p:nvSpPr>
        <p:spPr>
          <a:xfrm>
            <a:off x="8193024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8E44AD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6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93608" y="7214616"/>
            <a:ext cx="274320" cy="274320"/>
          </a:xfrm>
          <a:prstGeom prst="rect">
            <a:avLst/>
          </a:prstGeom>
        </p:spPr>
      </p:pic>
      <p:sp>
        <p:nvSpPr>
          <p:cNvPr id="167" name="Text 141"/>
          <p:cNvSpPr/>
          <p:nvPr/>
        </p:nvSpPr>
        <p:spPr>
          <a:xfrm>
            <a:off x="7813548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üret</a:t>
            </a:r>
            <a:endParaRPr lang="en-US" sz="1000" dirty="0"/>
          </a:p>
        </p:txBody>
      </p:sp>
      <p:sp>
        <p:nvSpPr>
          <p:cNvPr id="168" name="Text 142"/>
          <p:cNvSpPr/>
          <p:nvPr/>
        </p:nvSpPr>
        <p:spPr>
          <a:xfrm>
            <a:off x="7813548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sorgular</a:t>
            </a:r>
            <a:endParaRPr lang="en-US" sz="800" dirty="0"/>
          </a:p>
        </p:txBody>
      </p:sp>
      <p:sp>
        <p:nvSpPr>
          <p:cNvPr id="169" name="Shape 143"/>
          <p:cNvSpPr/>
          <p:nvPr/>
        </p:nvSpPr>
        <p:spPr>
          <a:xfrm>
            <a:off x="9509760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7B2FBE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7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10344" y="7214616"/>
            <a:ext cx="274320" cy="274320"/>
          </a:xfrm>
          <a:prstGeom prst="rect">
            <a:avLst/>
          </a:prstGeom>
        </p:spPr>
      </p:pic>
      <p:sp>
        <p:nvSpPr>
          <p:cNvPr id="171" name="Text 144"/>
          <p:cNvSpPr/>
          <p:nvPr/>
        </p:nvSpPr>
        <p:spPr>
          <a:xfrm>
            <a:off x="9130284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report_agent</a:t>
            </a:r>
            <a:endParaRPr lang="en-US" sz="1000" dirty="0"/>
          </a:p>
        </p:txBody>
      </p:sp>
      <p:sp>
        <p:nvSpPr>
          <p:cNvPr id="172" name="Text 145"/>
          <p:cNvSpPr/>
          <p:nvPr/>
        </p:nvSpPr>
        <p:spPr>
          <a:xfrm>
            <a:off x="9130284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yorumlar</a:t>
            </a:r>
            <a:endParaRPr lang="en-US" sz="800" dirty="0"/>
          </a:p>
        </p:txBody>
      </p:sp>
      <p:sp>
        <p:nvSpPr>
          <p:cNvPr id="173" name="Shape 146"/>
          <p:cNvSpPr/>
          <p:nvPr/>
        </p:nvSpPr>
        <p:spPr>
          <a:xfrm>
            <a:off x="10826496" y="7114032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0838F"/>
          </a:solidFill>
          <a:ln/>
          <a:effectLst>
            <a:outerShdw sx="100000" sy="100000" kx="0" ky="0" algn="bl" rotWithShape="0" blurRad="50800" dist="25400" dir="5400000">
              <a:srgbClr val="AEB8CC">
                <a:alpha val="32000"/>
              </a:srgbClr>
            </a:outerShdw>
          </a:effectLst>
        </p:spPr>
      </p:sp>
      <p:pic>
        <p:nvPicPr>
          <p:cNvPr id="17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27080" y="7214616"/>
            <a:ext cx="274320" cy="274320"/>
          </a:xfrm>
          <a:prstGeom prst="rect">
            <a:avLst/>
          </a:prstGeom>
        </p:spPr>
      </p:pic>
      <p:sp>
        <p:nvSpPr>
          <p:cNvPr id="175" name="Text 147"/>
          <p:cNvSpPr/>
          <p:nvPr/>
        </p:nvSpPr>
        <p:spPr>
          <a:xfrm>
            <a:off x="10447020" y="76260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</a:t>
            </a:r>
            <a:endParaRPr lang="en-US" sz="1000" dirty="0"/>
          </a:p>
        </p:txBody>
      </p:sp>
      <p:sp>
        <p:nvSpPr>
          <p:cNvPr id="176" name="Text 148"/>
          <p:cNvSpPr/>
          <p:nvPr/>
        </p:nvSpPr>
        <p:spPr>
          <a:xfrm>
            <a:off x="10447020" y="785469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yöneticiye</a:t>
            </a:r>
            <a:endParaRPr lang="en-US" sz="800" dirty="0"/>
          </a:p>
        </p:txBody>
      </p:sp>
      <p:sp>
        <p:nvSpPr>
          <p:cNvPr id="177" name="Shape 149"/>
          <p:cNvSpPr/>
          <p:nvPr/>
        </p:nvSpPr>
        <p:spPr>
          <a:xfrm>
            <a:off x="5861304" y="7351776"/>
            <a:ext cx="987552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78" name="Text 150"/>
          <p:cNvSpPr/>
          <p:nvPr/>
        </p:nvSpPr>
        <p:spPr>
          <a:xfrm>
            <a:off x="5769864" y="709574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çağırır</a:t>
            </a:r>
            <a:endParaRPr lang="en-US" sz="750" dirty="0"/>
          </a:p>
        </p:txBody>
      </p:sp>
      <p:sp>
        <p:nvSpPr>
          <p:cNvPr id="179" name="Shape 151"/>
          <p:cNvSpPr/>
          <p:nvPr/>
        </p:nvSpPr>
        <p:spPr>
          <a:xfrm>
            <a:off x="7379208" y="7351776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80" name="Text 152"/>
          <p:cNvSpPr/>
          <p:nvPr/>
        </p:nvSpPr>
        <p:spPr>
          <a:xfrm>
            <a:off x="7287768" y="70957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üretir</a:t>
            </a:r>
            <a:endParaRPr lang="en-US" sz="750" dirty="0"/>
          </a:p>
        </p:txBody>
      </p:sp>
      <p:sp>
        <p:nvSpPr>
          <p:cNvPr id="181" name="Shape 153"/>
          <p:cNvSpPr/>
          <p:nvPr/>
        </p:nvSpPr>
        <p:spPr>
          <a:xfrm>
            <a:off x="8695944" y="7351776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82" name="Text 154"/>
          <p:cNvSpPr/>
          <p:nvPr/>
        </p:nvSpPr>
        <p:spPr>
          <a:xfrm>
            <a:off x="8604504" y="70957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750" dirty="0"/>
          </a:p>
        </p:txBody>
      </p:sp>
      <p:sp>
        <p:nvSpPr>
          <p:cNvPr id="183" name="Shape 155"/>
          <p:cNvSpPr/>
          <p:nvPr/>
        </p:nvSpPr>
        <p:spPr>
          <a:xfrm>
            <a:off x="10012680" y="7351776"/>
            <a:ext cx="786384" cy="0"/>
          </a:xfrm>
          <a:prstGeom prst="line">
            <a:avLst/>
          </a:prstGeom>
          <a:noFill/>
          <a:ln w="19050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84" name="Text 156"/>
          <p:cNvSpPr/>
          <p:nvPr/>
        </p:nvSpPr>
        <p:spPr>
          <a:xfrm>
            <a:off x="9921240" y="709574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2026-08-03T15:58:13Z</dcterms:created>
  <dcterms:modified xsi:type="dcterms:W3CDTF">2026-08-03T15:58:13Z</dcterms:modified>
</cp:coreProperties>
</file>